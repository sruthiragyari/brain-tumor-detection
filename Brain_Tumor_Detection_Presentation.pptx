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Brain Tumor Detection &amp; Classification Using Machine Learning</a:t>
            </a:r>
          </a:p>
          <a:p>
            <a:pPr>
              <a:spcBef>
                <a:spcPts val="1000"/>
              </a:spcBef>
              <a:defRPr sz="1800">
                <a:solidFill>
                  <a:srgbClr val="4682B4"/>
                </a:solidFill>
                <a:latin typeface="Arial"/>
              </a:defRPr>
            </a:pPr>
            <a:r>
              <a:t>EfficientNetB0 Transfer Learning &amp; Explainable AI (Grad-CAM)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10332720" cy="36576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C3C3C"/>
                </a:solidFill>
                <a:latin typeface="Calibri"/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  <a:latin typeface="Calibri"/>
              </a:defRPr>
            </a:pPr>
            <a:r>
              <a:t>1) Ragyari Sruthi (Roll No: 23781A33D5) — Dept. of CSE (AI &amp; ML)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  <a:latin typeface="Calibri"/>
              </a:defRPr>
            </a:pPr>
            <a:r>
              <a:t>2) Ratala Venkata Ramakrishna (Roll No: 23781A33D7) — Dept. of CSE (AI &amp; ML)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  <a:latin typeface="Calibri"/>
              </a:defRPr>
            </a:pPr>
            <a:r>
              <a:t>3) Shaik Thameem (Roll No: 23781A33F3) — Dept. of CSE (AI &amp; ML)</a:t>
            </a:r>
          </a:p>
          <a:p>
            <a:pPr>
              <a:spcBef>
                <a:spcPts val="1200"/>
              </a:spcBef>
              <a:defRPr sz="1200" b="1">
                <a:solidFill>
                  <a:srgbClr val="003366"/>
                </a:solidFill>
                <a:latin typeface="Arial"/>
              </a:defRPr>
            </a:pPr>
            <a:r>
              <a:t>Sri Venkateswara College of Engineering and Technology (SVCET), Chittoor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Objective:</a:t>
            </a:r>
            <a:r>
              <a:rPr>
                <a:solidFill>
                  <a:srgbClr val="3C3C3C"/>
                </a:solidFill>
              </a:rPr>
              <a:t> Detect and classify brain MRI scans into four classes: Glioma, Meningioma, Pituitary, and No Tumor.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Dataset Source:</a:t>
            </a:r>
            <a:r>
              <a:rPr>
                <a:solidFill>
                  <a:srgbClr val="3C3C3C"/>
                </a:solidFill>
              </a:rPr>
              <a:t> Uses the Brain Tumor MRI Dataset from Kaggle containing a total of 7,023 images.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Methodology:</a:t>
            </a:r>
            <a:r>
              <a:rPr>
                <a:solidFill>
                  <a:srgbClr val="3C3C3C"/>
                </a:solidFill>
              </a:rPr>
              <a:t> Applies transfer learning using the EfficientNetB0 architecture pretrained on ImageNet database.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Data Pipeline:</a:t>
            </a:r>
            <a:r>
              <a:rPr>
                <a:solidFill>
                  <a:srgbClr val="3C3C3C"/>
                </a:solidFill>
              </a:rPr>
              <a:t> Incorporates online data augmentation, validation splits, and a structured two-phase training strategy.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Explainable AI:</a:t>
            </a:r>
            <a:r>
              <a:rPr>
                <a:solidFill>
                  <a:srgbClr val="3C3C3C"/>
                </a:solidFill>
              </a:rPr>
              <a:t> Computes Grad-CAM heatmap visualizations to explain model predictions clinically.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Optimized Inference:</a:t>
            </a:r>
            <a:r>
              <a:rPr>
                <a:solidFill>
                  <a:srgbClr val="3C3C3C"/>
                </a:solidFill>
              </a:rPr>
              <a:t> Converted the final model to the highly optimized ONNX format for lightweight, rapid execution.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Deployment:</a:t>
            </a:r>
            <a:r>
              <a:rPr>
                <a:solidFill>
                  <a:srgbClr val="3C3C3C"/>
                </a:solidFill>
              </a:rPr>
              <a:t> Deployed as a web application using Gradio on Hugging Face Spaces for real-time predictions.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Clinical Significance:</a:t>
            </a:r>
            <a:r>
              <a:rPr>
                <a:solidFill>
                  <a:srgbClr val="3C3C3C"/>
                </a:solidFill>
              </a:rPr>
              <a:t> Assists radiologists by providing a rapid second opinion and prioritizing scanning queues.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Manual Interpretation Bottlenecks:</a:t>
            </a:r>
            <a:r>
              <a:rPr>
                <a:solidFill>
                  <a:srgbClr val="3C3C3C"/>
                </a:solidFill>
              </a:rPr>
              <a:t> Manual review of MRI scans by radiologists is time-consuming, prone to human fatigue, and suffers from inter-observer variability.</a:t>
            </a:r>
          </a:p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Diagnostic Delays:</a:t>
            </a:r>
            <a:r>
              <a:rPr>
                <a:solidFill>
                  <a:srgbClr val="3C3C3C"/>
                </a:solidFill>
              </a:rPr>
              <a:t> Delays in reading scans postpone treatment decisions for critical conditions like Glioma and Meningioma.</a:t>
            </a:r>
          </a:p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Need for Consistency:</a:t>
            </a:r>
            <a:r>
              <a:rPr>
                <a:solidFill>
                  <a:srgbClr val="3C3C3C"/>
                </a:solidFill>
              </a:rPr>
              <a:t> Hospitals lack tools that provide standardized, quantitative, and rapid visual validation of tumor boundaries.</a:t>
            </a:r>
          </a:p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The 'Black-Box' Challenge:</a:t>
            </a:r>
            <a:r>
              <a:rPr>
                <a:solidFill>
                  <a:srgbClr val="3C3C3C"/>
                </a:solidFill>
              </a:rPr>
              <a:t> Standard deep learning models classify images without explanation, which limits clinical trust and deployment readiness.</a:t>
            </a:r>
          </a:p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Diagnostic Support:</a:t>
            </a:r>
            <a:r>
              <a:rPr>
                <a:solidFill>
                  <a:srgbClr val="3C3C3C"/>
                </a:solidFill>
              </a:rPr>
              <a:t> The lack of automated, secondary verification systems leads to missed anomalies and higher workload in radiology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E6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82880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0"/>
              </a:spcBef>
              <a:defRPr sz="1600" b="1">
                <a:solidFill>
                  <a:srgbClr val="003366"/>
                </a:solidFill>
                <a:latin typeface="Calibri"/>
              </a:defRPr>
            </a:pPr>
            <a:r>
              <a:t>Goal:</a:t>
            </a:r>
            <a:br/>
            <a:r>
              <a:t>To build a highly accurate, lightweight, and explainable neural classifier that helps clinicians detect, categorize, and locate tumors on MRI scans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Multi-Class Classification:</a:t>
            </a:r>
            <a:r>
              <a:rPr>
                <a:solidFill>
                  <a:srgbClr val="3C3C3C"/>
                </a:solidFill>
              </a:rPr>
              <a:t> Correctly categorize brain MRI scans into four classes: Glioma, Meningioma, Pituitary, or No Tumor.</a:t>
            </a:r>
          </a:p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Transfer Learning Adaptation:</a:t>
            </a:r>
            <a:r>
              <a:rPr>
                <a:solidFill>
                  <a:srgbClr val="3C3C3C"/>
                </a:solidFill>
              </a:rPr>
              <a:t> Train and refine an ImageNet-pretrained EfficientNetB0 backbone to achieve rapid convergence and high generalizability on small datasets.</a:t>
            </a:r>
          </a:p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Pipeline Robustness:</a:t>
            </a:r>
            <a:r>
              <a:rPr>
                <a:solidFill>
                  <a:srgbClr val="3C3C3C"/>
                </a:solidFill>
              </a:rPr>
              <a:t> Integrate advanced data augmentation, learning rate callbacks, batch normalization, and dropout to eliminate model overfitting.</a:t>
            </a:r>
          </a:p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Visual Interpretability (Explainable AI):</a:t>
            </a:r>
            <a:r>
              <a:rPr>
                <a:solidFill>
                  <a:srgbClr val="3C3C3C"/>
                </a:solidFill>
              </a:rPr>
              <a:t> Develop a Grad-CAM pipeline to highlight specific convolutional feature areas to justify predictions visually.</a:t>
            </a:r>
          </a:p>
          <a:p>
            <a:pPr>
              <a:spcBef>
                <a:spcPts val="10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Production-Grade Deployment:</a:t>
            </a:r>
            <a:r>
              <a:rPr>
                <a:solidFill>
                  <a:srgbClr val="3C3C3C"/>
                </a:solidFill>
              </a:rPr>
              <a:t> Convert Keras models to ONNX and deploy a lightweight, real-time Gradio demo on Hugging Face Spaces.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Source:</a:t>
            </a:r>
            <a:r>
              <a:rPr>
                <a:solidFill>
                  <a:srgbClr val="3C3C3C"/>
                </a:solidFill>
              </a:rPr>
              <a:t> Brain Tumor MRI Dataset by Masoud Nickparvar (Kaggle).</a:t>
            </a:r>
          </a:p>
          <a:p>
            <a:pPr>
              <a:spcBef>
                <a:spcPts val="6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Total Size:</a:t>
            </a:r>
            <a:r>
              <a:rPr>
                <a:solidFill>
                  <a:srgbClr val="3C3C3C"/>
                </a:solidFill>
              </a:rPr>
              <a:t> 7,023 high-quality brain MRI scans.</a:t>
            </a:r>
          </a:p>
          <a:p>
            <a:pPr>
              <a:spcBef>
                <a:spcPts val="6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Data Splitting Strategy: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</a:t>
            </a:r>
            <a:r>
              <a:rPr b="1">
                <a:solidFill>
                  <a:srgbClr val="003366"/>
                </a:solidFill>
              </a:rPr>
              <a:t>Training Set (5,712 images):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  - Glioma: 1,321 | Meningioma: 1,339</a:t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  - Pituitary: 1,457 | No Tumor: 1,595</a:t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</a:t>
            </a:r>
            <a:r>
              <a:rPr b="1">
                <a:solidFill>
                  <a:srgbClr val="003366"/>
                </a:solidFill>
              </a:rPr>
              <a:t>Testing Set (1,311 images):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  - Glioma: 300 | Meningioma: 306</a:t>
            </a:r>
          </a:p>
          <a:p>
            <a:pPr>
              <a:spcBef>
                <a:spcPts val="6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  - Pituitary: 300 | No Tumor: 405</a:t>
            </a:r>
          </a:p>
          <a:p>
            <a:pPr>
              <a:spcBef>
                <a:spcPts val="6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Resolution:</a:t>
            </a:r>
            <a:r>
              <a:rPr>
                <a:solidFill>
                  <a:srgbClr val="3C3C3C"/>
                </a:solidFill>
              </a:rPr>
              <a:t> Resized to 224 × 224 pixels with 3 color channels (RGB).</a:t>
            </a:r>
          </a:p>
          <a:p>
            <a:pPr>
              <a:spcBef>
                <a:spcPts val="6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Validation:</a:t>
            </a:r>
            <a:r>
              <a:rPr>
                <a:solidFill>
                  <a:srgbClr val="3C3C3C"/>
                </a:solidFill>
              </a:rPr>
              <a:t> 20% validation split taken from the training set dynamically during model fit.</a:t>
            </a:r>
          </a:p>
        </p:txBody>
      </p:sp>
      <p:pic>
        <p:nvPicPr>
          <p:cNvPr id="6" name="Picture 5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Project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6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1: Dataset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Download 7,023 MRI images from Kaggle via programmatically integrated Kaggle API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2: Preprocessing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Verify folder paths, check sample scans, and resize all input data to 224×224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3: Augmentation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Augment inputs on-the-fly (rotations, width/height shifts, zoom, and horizontal flips) to boost generalization.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4: Phase 1 Training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Freeze EfficientNetB0 base, train the custom classifier head for 15 epochs at lr=1e-3.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06324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5: Phase 2 Fine-Tuning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Unfreeze the top 30 base layers, train at low learning rate (lr=1e-5) for 10 epochs.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06324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6: Evaluation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Evaluate final model weights on independent test split (confusion matrix, metrics reports).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7: ONNX Conversion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Convert trained Keras (.h5) model weights to ONNX format using tf2onnx library.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75488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8: Grad-CAM Setup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Build Grad-CAM layer heatmap hooks into the model's final convolutional layer ('top_conv').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754880"/>
            <a:ext cx="3291840" cy="14630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3366"/>
                </a:solidFill>
                <a:latin typeface="Arial"/>
              </a:defRPr>
            </a:pPr>
            <a:r>
              <a:t>Step 9: Gradio Web App</a:t>
            </a:r>
          </a:p>
          <a:p>
            <a:pPr>
              <a:spcBef>
                <a:spcPts val="400"/>
              </a:spcBef>
              <a:defRPr sz="1050">
                <a:solidFill>
                  <a:srgbClr val="3C3C3C"/>
                </a:solidFill>
                <a:latin typeface="Calibri"/>
              </a:defRPr>
            </a:pPr>
            <a:r>
              <a:t>Host on Hugging Face Spaces using ONNX Runtime for instant, lightweight browser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Software &amp; Hardware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7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6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1800" b="1">
                <a:solidFill>
                  <a:srgbClr val="003366"/>
                </a:solidFill>
                <a:latin typeface="Arial"/>
              </a:defRPr>
            </a:pPr>
            <a:r>
              <a:t>Software Requirements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Python 3.10 / 3.11:</a:t>
            </a:r>
            <a:r>
              <a:rPr>
                <a:solidFill>
                  <a:srgbClr val="3C3C3C"/>
                </a:solidFill>
              </a:rPr>
              <a:t> Core execution runtime.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TensorFlow &amp; Keras 2.x:</a:t>
            </a:r>
            <a:r>
              <a:rPr>
                <a:solidFill>
                  <a:srgbClr val="3C3C3C"/>
                </a:solidFill>
              </a:rPr>
              <a:t> Model building and transfer learning training frameworks.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OpenCV-Python:</a:t>
            </a:r>
            <a:r>
              <a:rPr>
                <a:solidFill>
                  <a:srgbClr val="3C3C3C"/>
                </a:solidFill>
              </a:rPr>
              <a:t> Grad-CAM blending and heatmap preprocessing operations.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onnxruntime:</a:t>
            </a:r>
            <a:r>
              <a:rPr>
                <a:solidFill>
                  <a:srgbClr val="3C3C3C"/>
                </a:solidFill>
              </a:rPr>
              <a:t> Ultra-lightweight inference engine for Gradio deployments.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tf2onnx:</a:t>
            </a:r>
            <a:r>
              <a:rPr>
                <a:solidFill>
                  <a:srgbClr val="3C3C3C"/>
                </a:solidFill>
              </a:rPr>
              <a:t> Tool used to convert models from Keras to ONNX format.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Gradio:</a:t>
            </a:r>
            <a:r>
              <a:rPr>
                <a:solidFill>
                  <a:srgbClr val="3C3C3C"/>
                </a:solidFill>
              </a:rPr>
              <a:t> Builds interactive web interface components.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Jupyter Notebook / Google Colab:</a:t>
            </a:r>
            <a:r>
              <a:rPr>
                <a:solidFill>
                  <a:srgbClr val="3C3C3C"/>
                </a:solidFill>
              </a:rPr>
              <a:t> Experimental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E6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1800" b="1">
                <a:solidFill>
                  <a:srgbClr val="003366"/>
                </a:solidFill>
                <a:latin typeface="Arial"/>
              </a:defRPr>
            </a:pPr>
            <a:r>
              <a:t>Hardware Requirements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GPU Accelerator (Training):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5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NVIDIA T4 GPU (Google Colab free tier used).</a:t>
            </a:r>
          </a:p>
          <a:p>
            <a:pPr>
              <a:spcBef>
                <a:spcPts val="5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Critical for batch training of EfficientNetB0.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CPU (Deployment):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5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Deployed Space runs on a basic, free CPU instance.</a:t>
            </a:r>
          </a:p>
          <a:p>
            <a:pPr>
              <a:spcBef>
                <a:spcPts val="5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Made possible by replacing TensorFlow with ONNX Runtime.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System RAM: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5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Minimum: 8 GB (12 GB+ on Colab container).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Storage: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5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~2 GB for raw dataset download.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Arial"/>
              </a:defRPr>
            </a:pPr>
            <a:r>
              <a:t>Model Details:</a:t>
            </a:r>
          </a:p>
          <a:p>
            <a:pPr>
              <a:spcBef>
                <a:spcPts val="4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Uses </a:t>
            </a:r>
            <a:r>
              <a:rPr b="1">
                <a:solidFill>
                  <a:srgbClr val="003366"/>
                </a:solidFill>
              </a:rPr>
              <a:t>EfficientNetB0</a:t>
            </a:r>
            <a:r>
              <a:rPr>
                <a:solidFill>
                  <a:srgbClr val="3C3C3C"/>
                </a:solidFill>
              </a:rPr>
              <a:t> as a frozen/partially-frozen feature extractor. EfficientNet is chosen due to its high efficiency and parameter balance (5.3M parameters vs. 25.6M for ResNet50).</a:t>
            </a:r>
          </a:p>
          <a:p>
            <a:pPr>
              <a:spcBef>
                <a:spcPts val="4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A customized dense classification head is added on top to support the 4 brain tumor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554480" cy="16459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100" b="1">
                <a:solidFill>
                  <a:srgbClr val="003366"/>
                </a:solidFill>
                <a:latin typeface="Calibri"/>
              </a:defRPr>
            </a:pPr>
            <a:r>
              <a:t>Input Image</a:t>
            </a:r>
            <a:br/>
            <a:r>
              <a:t>(224×224 RGB)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747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682B4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926080"/>
            <a:ext cx="1554480" cy="16459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100" b="1">
                <a:solidFill>
                  <a:srgbClr val="003366"/>
                </a:solidFill>
                <a:latin typeface="Calibri"/>
              </a:defRPr>
            </a:pPr>
            <a:r>
              <a:t>EfficientNetB0</a:t>
            </a:r>
            <a:br/>
            <a:r>
              <a:t>Base (Frozen)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4747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682B4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1554480" cy="16459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100" b="1">
                <a:solidFill>
                  <a:srgbClr val="003366"/>
                </a:solidFill>
                <a:latin typeface="Calibri"/>
              </a:defRPr>
            </a:pPr>
            <a:r>
              <a:t>Global Average</a:t>
            </a:r>
            <a:br/>
            <a:r>
              <a:t>Pooling 2D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682B4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1554480" cy="16459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100" b="1">
                <a:solidFill>
                  <a:srgbClr val="003366"/>
                </a:solidFill>
                <a:latin typeface="Calibri"/>
              </a:defRPr>
            </a:pPr>
            <a:r>
              <a:t>Dense Layer</a:t>
            </a:r>
            <a:br/>
            <a:r>
              <a:t>(256 units, ReLU)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747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682B4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926080"/>
            <a:ext cx="1554480" cy="16459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100" b="1">
                <a:solidFill>
                  <a:srgbClr val="003366"/>
                </a:solidFill>
                <a:latin typeface="Calibri"/>
              </a:defRPr>
            </a:pPr>
            <a:r>
              <a:t>Dropout (0.3)</a:t>
            </a:r>
            <a:br/>
            <a:r>
              <a:t>+ BatchNorm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4747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682B4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2926080"/>
            <a:ext cx="1554480" cy="16459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100" b="1">
                <a:solidFill>
                  <a:srgbClr val="003366"/>
                </a:solidFill>
                <a:latin typeface="Calibri"/>
              </a:defRPr>
            </a:pPr>
            <a:r>
              <a:t>Output Dense</a:t>
            </a:r>
            <a:br/>
            <a:r>
              <a:t>(4 units, Softmax)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Actual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35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Successful Training Convergence:</a:t>
            </a:r>
            <a:r>
              <a:rPr>
                <a:solidFill>
                  <a:srgbClr val="3C3C3C"/>
                </a:solidFill>
              </a:rPr>
              <a:t> Successfully implemented a two-phase transfer learning framework achieving stable learning curves.</a:t>
            </a:r>
          </a:p>
          <a:p>
            <a:pPr>
              <a:spcBef>
                <a:spcPts val="500"/>
              </a:spcBef>
              <a:defRPr sz="135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The Preprocessing Fix: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500"/>
              </a:spcBef>
              <a:defRPr sz="115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</a:t>
            </a:r>
            <a:r>
              <a:rPr b="1">
                <a:solidFill>
                  <a:srgbClr val="003366"/>
                </a:solidFill>
              </a:rPr>
              <a:t>Identified Bug:</a:t>
            </a:r>
            <a:r>
              <a:rPr>
                <a:solidFill>
                  <a:srgbClr val="3C3C3C"/>
                </a:solidFill>
              </a:rPr>
              <a:t> ImageDataGenerator `rescale=1./255` was double-scaling inputs since EfficientNetB0 has its own internal Rescaling layer.</a:t>
            </a:r>
          </a:p>
          <a:p>
            <a:pPr>
              <a:spcBef>
                <a:spcPts val="500"/>
              </a:spcBef>
              <a:defRPr sz="115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</a:t>
            </a:r>
            <a:r>
              <a:rPr b="1">
                <a:solidFill>
                  <a:srgbClr val="003366"/>
                </a:solidFill>
              </a:rPr>
              <a:t>Impact:</a:t>
            </a:r>
            <a:r>
              <a:rPr>
                <a:solidFill>
                  <a:srgbClr val="3C3C3C"/>
                </a:solidFill>
              </a:rPr>
              <a:t> Vanishing gradients resulted in model predicting only the majority class ('No Tumor').</a:t>
            </a:r>
          </a:p>
          <a:p>
            <a:pPr>
              <a:spcBef>
                <a:spcPts val="500"/>
              </a:spcBef>
              <a:defRPr sz="115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</a:t>
            </a:r>
            <a:r>
              <a:rPr b="1">
                <a:solidFill>
                  <a:srgbClr val="003366"/>
                </a:solidFill>
              </a:rPr>
              <a:t>Fix:</a:t>
            </a:r>
            <a:r>
              <a:rPr>
                <a:solidFill>
                  <a:srgbClr val="3C3C3C"/>
                </a:solidFill>
              </a:rPr>
              <a:t> Removed manual scaling, passing raw [0, 255] ranges, which completely restored accuracy.</a:t>
            </a:r>
          </a:p>
          <a:p>
            <a:pPr>
              <a:spcBef>
                <a:spcPts val="500"/>
              </a:spcBef>
              <a:defRPr sz="135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Model Performance:</a:t>
            </a:r>
            <a:r>
              <a:rPr>
                <a:solidFill>
                  <a:srgbClr val="3C3C3C"/>
                </a:solidFill>
              </a:rPr>
              <a:t> Achieved </a:t>
            </a:r>
            <a:r>
              <a:rPr b="1">
                <a:solidFill>
                  <a:srgbClr val="003366"/>
                </a:solidFill>
              </a:rPr>
              <a:t>99.59% accuracy on tumor cases</a:t>
            </a:r>
            <a:r>
              <a:rPr>
                <a:solidFill>
                  <a:srgbClr val="3C3C3C"/>
                </a:solidFill>
              </a:rPr>
              <a:t> and </a:t>
            </a:r>
            <a:r>
              <a:rPr b="1">
                <a:solidFill>
                  <a:srgbClr val="003366"/>
                </a:solidFill>
              </a:rPr>
              <a:t>99.99% accuracy on healthy cases</a:t>
            </a:r>
            <a:r>
              <a:rPr>
                <a:solidFill>
                  <a:srgbClr val="3C3C3C"/>
                </a:solidFill>
              </a:rPr>
              <a:t>.</a:t>
            </a:r>
          </a:p>
          <a:p>
            <a:pPr>
              <a:spcBef>
                <a:spcPts val="500"/>
              </a:spcBef>
              <a:defRPr sz="135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ONNX Optimization:</a:t>
            </a:r>
            <a:r>
              <a:rPr>
                <a:solidFill>
                  <a:srgbClr val="3C3C3C"/>
                </a:solidFill>
              </a:rPr>
              <a:t> Exchanged the massive TensorFlow library for the lightweight </a:t>
            </a:r>
            <a:r>
              <a:rPr b="1">
                <a:solidFill>
                  <a:srgbClr val="003366"/>
                </a:solidFill>
              </a:rPr>
              <a:t>ONNX Runtime</a:t>
            </a:r>
            <a:r>
              <a:rPr>
                <a:solidFill>
                  <a:srgbClr val="3C3C3C"/>
                </a:solidFill>
              </a:rPr>
              <a:t>, shrinking the production model to just </a:t>
            </a:r>
            <a:r>
              <a:rPr b="1">
                <a:solidFill>
                  <a:srgbClr val="003366"/>
                </a:solidFill>
              </a:rPr>
              <a:t>17 MB</a:t>
            </a:r>
            <a:r>
              <a:rPr>
                <a:solidFill>
                  <a:srgbClr val="3C3C3C"/>
                </a:solidFill>
              </a:rPr>
              <a:t>.</a:t>
            </a:r>
          </a:p>
        </p:txBody>
      </p:sp>
      <p:pic>
        <p:nvPicPr>
          <p:cNvPr id="6" name="Picture 5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194560"/>
          </a:xfrm>
          <a:prstGeom prst="rect">
            <a:avLst/>
          </a:prstGeom>
        </p:spPr>
      </p:pic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49039"/>
            <a:ext cx="52120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Hugging Face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Deployment:</a:t>
            </a:r>
            <a:r>
              <a:rPr>
                <a:solidFill>
                  <a:srgbClr val="3C3C3C"/>
                </a:solidFill>
              </a:rPr>
              <a:t> Hosted on Hugging Face Spaces for free, public access.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Web UI:</a:t>
            </a:r>
            <a:r>
              <a:rPr>
                <a:solidFill>
                  <a:srgbClr val="3C3C3C"/>
                </a:solidFill>
              </a:rPr>
              <a:t> Built using </a:t>
            </a:r>
            <a:r>
              <a:rPr b="1">
                <a:solidFill>
                  <a:srgbClr val="003366"/>
                </a:solidFill>
              </a:rPr>
              <a:t>Gradio</a:t>
            </a:r>
            <a:r>
              <a:rPr>
                <a:solidFill>
                  <a:srgbClr val="3C3C3C"/>
                </a:solidFill>
              </a:rPr>
              <a:t> for a clean, responsive layout.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Inference Engine:</a:t>
            </a:r>
            <a:r>
              <a:rPr>
                <a:solidFill>
                  <a:srgbClr val="3C3C3C"/>
                </a:solidFill>
              </a:rPr>
              <a:t> Powered by </a:t>
            </a:r>
            <a:r>
              <a:rPr b="1">
                <a:solidFill>
                  <a:srgbClr val="003366"/>
                </a:solidFill>
              </a:rPr>
              <a:t>ONNX Runtime (ort)</a:t>
            </a:r>
            <a:r>
              <a:rPr>
                <a:solidFill>
                  <a:srgbClr val="3C3C3C"/>
                </a:solidFill>
              </a:rPr>
              <a:t>, running on CPU with millisecond response time.</a:t>
            </a:r>
          </a:p>
          <a:p>
            <a:pPr>
              <a:spcBef>
                <a:spcPts val="600"/>
              </a:spcBef>
              <a:defRPr sz="14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User Workflow: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1. Upload a brain MRI scan (.jpg/.png).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2. Click the 'Analyze MRI' button.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3. View the predicted tumor category with a confidence score breakdown across all four classes.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4. Read a short clinical description of the predicted class.</a:t>
            </a:r>
          </a:p>
        </p:txBody>
      </p:sp>
      <p:pic>
        <p:nvPicPr>
          <p:cNvPr id="6" name="Picture 5" descr="hf_space_status_1782152116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Explainability with Grad-CAM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What is Grad-CAM?</a:t>
            </a:r>
            <a:r>
              <a:rPr>
                <a:solidFill>
                  <a:srgbClr val="3C3C3C"/>
                </a:solidFill>
              </a:rPr>
              <a:t> Gradient-weighted Class Activation Mapping computes heatmaps showing which regions of the MRI the model focused on for its prediction.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Where it was used:</a:t>
            </a:r>
            <a:r>
              <a:rPr>
                <a:solidFill>
                  <a:srgbClr val="3C3C3C"/>
                </a:solidFill>
              </a:rPr>
              <a:t> Implemented and validated during model development in the training notebook, using the final convolutional layer (`top_conv`) of the EfficientNetB0 backbone.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Clinical Significance:</a:t>
            </a:r>
            <a:r>
              <a:rPr>
                <a:solidFill>
                  <a:srgbClr val="3C3C3C"/>
                </a:solidFill>
              </a:rPr>
              <a:t> Lets a radiologist visually confirm the model is attending to the actual tumor region rather than irrelevant background, building trust before deployment.</a:t>
            </a:r>
          </a:p>
          <a:p>
            <a:pPr>
              <a:spcBef>
                <a:spcPts val="800"/>
              </a:spcBef>
              <a:defRPr sz="14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Note:</a:t>
            </a:r>
            <a:r>
              <a:rPr>
                <a:solidFill>
                  <a:srgbClr val="3C3C3C"/>
                </a:solidFill>
              </a:rPr>
              <a:t> This visualization currently runs in the training/analysis notebook; integrating it directly into the live web app is planned as future work.</a:t>
            </a:r>
          </a:p>
        </p:txBody>
      </p:sp>
      <p:pic>
        <p:nvPicPr>
          <p:cNvPr id="6" name="Picture 5" descr="gradcam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  <a:latin typeface="Calibri"/>
              </a:defRPr>
            </a:pPr>
            <a:r>
              <a:t>Slide 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End-to-End Pipeline:</a:t>
            </a:r>
            <a:r>
              <a:rPr>
                <a:solidFill>
                  <a:srgbClr val="3C3C3C"/>
                </a:solidFill>
              </a:rPr>
              <a:t> Successfully built and delivered a complete pipeline from automated dataset download to deployed web application.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Methodological Success:</a:t>
            </a:r>
            <a:r>
              <a:rPr>
                <a:solidFill>
                  <a:srgbClr val="3C3C3C"/>
                </a:solidFill>
              </a:rPr>
              <a:t> EfficientNetB0 transfer learning achieved </a:t>
            </a:r>
            <a:r>
              <a:rPr b="1">
                <a:solidFill>
                  <a:srgbClr val="003366"/>
                </a:solidFill>
              </a:rPr>
              <a:t>99.59%</a:t>
            </a:r>
            <a:r>
              <a:rPr>
                <a:solidFill>
                  <a:srgbClr val="3C3C3C"/>
                </a:solidFill>
              </a:rPr>
              <a:t> accuracy on tumor cases and </a:t>
            </a:r>
            <a:r>
              <a:rPr b="1">
                <a:solidFill>
                  <a:srgbClr val="003366"/>
                </a:solidFill>
              </a:rPr>
              <a:t>99.99%</a:t>
            </a:r>
            <a:r>
              <a:rPr>
                <a:solidFill>
                  <a:srgbClr val="3C3C3C"/>
                </a:solidFill>
              </a:rPr>
              <a:t> on healthy cases after resolving a critical preprocessing bug.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Validated Explainability:</a:t>
            </a:r>
            <a:r>
              <a:rPr>
                <a:solidFill>
                  <a:srgbClr val="3C3C3C"/>
                </a:solidFill>
              </a:rPr>
              <a:t> Grad-CAM explainability was developed and validated in the training notebook to support model trust.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Lightweight Deployment:</a:t>
            </a:r>
            <a:r>
              <a:rPr>
                <a:solidFill>
                  <a:srgbClr val="3C3C3C"/>
                </a:solidFill>
              </a:rPr>
              <a:t> Deployed a lightweight, CPU-run Gradio app on Hugging Face Spaces using ONNX Runtime.</a:t>
            </a:r>
          </a:p>
          <a:p>
            <a:pPr>
              <a:spcBef>
                <a:spcPts val="800"/>
              </a:spcBef>
              <a:defRPr sz="15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/>
            </a:r>
            <a:r>
              <a:rPr b="1">
                <a:solidFill>
                  <a:srgbClr val="003366"/>
                </a:solidFill>
              </a:rPr>
              <a:t>Future Work:</a:t>
            </a:r>
            <a:r>
              <a:rPr>
                <a:solidFill>
                  <a:srgbClr val="3C3C3C"/>
                </a:solidFill>
              </a:rPr>
              <a:t/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Integrate live Grad-CAM heatmap visualization directly into the deployed web application.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Expand the classification model to more brain tumor subtypes.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>
                <a:solidFill>
                  <a:srgbClr val="3C3C3C"/>
                </a:solidFill>
              </a:rPr>
              <a:t>  - Add U-Net segmentation models for tumor volume quantification.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2800">
                <a:solidFill>
                  <a:srgbClr val="E6F0FF"/>
                </a:solidFill>
                <a:latin typeface="Calibri"/>
              </a:defRPr>
            </a:pPr>
            <a:r>
              <a:t>Questions &amp; Answers</a:t>
            </a:r>
          </a:p>
          <a:p>
            <a:pPr algn="ctr">
              <a:spcBef>
                <a:spcPts val="3000"/>
              </a:spcBef>
              <a:defRPr sz="1400">
                <a:solidFill>
                  <a:srgbClr val="E6F0FF"/>
                </a:solidFill>
                <a:latin typeface="Calibri"/>
              </a:defRPr>
            </a:pPr>
            <a:r>
              <a:t>Project Code: github.com/SruthiRagyari/brain-tumor-detection</a:t>
            </a:r>
            <a:br/>
            <a:r>
              <a:t>Live App: huggingface.co/spaces/Sruthi-R/brain-tumor-classifier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